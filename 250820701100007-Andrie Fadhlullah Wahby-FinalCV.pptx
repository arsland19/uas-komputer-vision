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Kvasir-SEG</c:v>
                </c:pt>
              </c:strCache>
            </c:strRef>
          </c:tx>
          <c:spPr>
            <a:solidFill>
              <a:srgbClr val="1A4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U-Net</c:v>
                </c:pt>
                <c:pt idx="1">
                  <c:v>PraNet</c:v>
                </c:pt>
                <c:pt idx="2">
                  <c:v>EPraNet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0.81799999999999995</c:v>
                </c:pt>
                <c:pt idx="1">
                  <c:v>0.89800000000000002</c:v>
                </c:pt>
                <c:pt idx="2">
                  <c:v>0.93049999999999999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02-44A3-ADD9-26BCC3A836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Archive-PNG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U-Net</c:v>
                </c:pt>
                <c:pt idx="1">
                  <c:v>PraNet</c:v>
                </c:pt>
                <c:pt idx="2">
                  <c:v>EPraNet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0.74199999999999999</c:v>
                </c:pt>
                <c:pt idx="1">
                  <c:v>0.871</c:v>
                </c:pt>
                <c:pt idx="2">
                  <c:v>0.88700000000000001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02-44A3-ADD9-26BCC3A836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0F6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349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4A8A">
              <a:alpha val="40000"/>
            </a:srgbClr>
          </a:solidFill>
          <a:ln w="12700">
            <a:solidFill>
              <a:srgbClr val="1A4A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926080"/>
            <a:ext cx="2011680" cy="201168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9436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MEDICAL IMAGING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kern="0" spc="2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EPraNet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Parallel Reverse Attention Network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untuk Segmentasi Polip pada Citra Kolonoskopi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Edge-aware Boundary Loss  ·  FFT Enhancement  ·  CBAM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401568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Andrie Fadhlullah Wahby  ·  250820701100007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858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Syiah Kuala  ·  Departemen Sains dan Artificial Intelligence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Presentasi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6187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10789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48132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Pentingnya deteksi dini kanker kolorektal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56048" y="126187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96128" y="10789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Masalah &amp; Motivasi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96128" y="148132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metode segmentasi existing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20624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49631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" y="231343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EPraNet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9848" y="27157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inovasi utama yang diusulkan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40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249631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96128" y="231343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Eksperimen</a:t>
            </a: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&amp; Hasil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96128" y="27157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metrik, dan perbandingan kuantitatif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420624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373075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9848" y="35478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 Ablasi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9848" y="39502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inkremental tiap komponen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6048" y="373075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96128" y="35478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96128" y="39502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 dan arah penelitian selanjutnya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Kanker Kolorektal &amp; Pentingnya Deteksi Dini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Kanker paling umum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global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 insiden CRC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kolonoskopi tepat waktu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14300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1887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menurunkan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kematian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4023360" cy="233172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487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Mengapa Ini Penting?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85292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Kanker kolorektal (CRC) adalah penyebab kematian kanker utama ketiga di dunia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Kolonoskopi adalah gold standard — namun akurasi bergantung pada keahlian dokter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 polip mencapai 20-26% dalam praktik klinis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otomatis polip berpotensi menyelamatkan jutaan jiwa setiap tahun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Tantangan Utama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 intra-kelas tinggi: polip bervariasi dalam ukuran, warna &amp; tekstur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difus antara polip dan mukosa sekitarnya yang normal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 rendah antara polip datar (flat polyp) dengan dinding usus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Dibutuhkan metode otomatis yang akurat, cepat, dan generalizable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Masalah &amp; Motivasi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0709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PraNet yang Mendasari EPraNet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PraNet [Fan et al., 2020] adalah state-of-the-art dengan mekanisme Reverse Attention yang sangat </a:t>
            </a:r>
            <a:r>
              <a:rPr lang="en-US" sz="125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efektif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</a:t>
            </a:r>
            <a:r>
              <a:rPr lang="en-US" sz="125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tiga keterbatasan kritis </a:t>
            </a:r>
            <a:r>
              <a:rPr lang="en-US" sz="125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diatasi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paper </a:t>
            </a:r>
            <a:r>
              <a:rPr lang="en-US" sz="1250" i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tersebut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664208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Representasi Fitur Spasial Saja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PraNet hanya menggunakan informasi spasial. Pola tekstur periodik pada mukosa polip memerlukan informasi domain frekuensi yang tidak dapat ditangkap oleh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konvolusi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3×3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pxl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biasa.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50876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66420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 pada Skip Connection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 membawa noise latar belakang dari encoder ke decoder. Tanpa mekanisme penyaringan, fitur irrelevant mengurangi akurasi segmentasi terutama pada polip kecil.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508760"/>
            <a:ext cx="2743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1664208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(iii)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0216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Supervisi Batas yang Implisit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5936" y="2834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batas merupakan minoritas kecil dari total piksel. Dalam loss berbasis area, pixel batas mendapat gradient yang sangat kecil sehingga delineasi batas tetap kabur.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3127248"/>
            <a:ext cx="2926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07608" y="3127248"/>
            <a:ext cx="2926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Arsitektur EPraNet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0709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Inovasi pada Kerangka PraNet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1155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11556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352×352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35608" y="143560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1024128"/>
            <a:ext cx="11155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08760" y="1024128"/>
            <a:ext cx="1115568" cy="7315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115568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24328" y="143560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024128"/>
            <a:ext cx="11155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80360" y="1024128"/>
            <a:ext cx="11155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115568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95928" y="143560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024128"/>
            <a:ext cx="11155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024128"/>
            <a:ext cx="11155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115568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Levels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67528" y="143560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1024128"/>
            <a:ext cx="11155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23560" y="1024128"/>
            <a:ext cx="11155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115568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Attn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39128" y="1435608"/>
            <a:ext cx="2468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1024128"/>
            <a:ext cx="11155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1024128"/>
            <a:ext cx="111556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115568"/>
            <a:ext cx="1115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02996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0299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Edge-aware Boundary Loss (Training only)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2542032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" y="265176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408" y="2633472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FFT (Fast </a:t>
            </a:r>
            <a:r>
              <a:rPr lang="en-US" sz="1150" b="1" dirty="0" err="1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Forier</a:t>
            </a:r>
            <a:r>
              <a:rPr lang="en-US" sz="11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Transform) Enhancement Module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" y="3154680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Diterapkan pada feature map terdalam (layer4, 2048ch)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real FFT → learnable weight pada amplitude spectrum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fusion: x_out = ReLU(BN(x + x_back))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Menangkap pola tekstur periodik global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4680" y="2542032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82696" y="26517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82696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813048" y="2633472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CBAM (</a:t>
            </a:r>
            <a:r>
              <a:rPr lang="en-US" sz="1150" b="1" dirty="0" err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Conlovutional</a:t>
            </a:r>
            <a:r>
              <a:rPr lang="en-US" sz="11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Block </a:t>
            </a:r>
            <a:r>
              <a:rPr lang="en-US" sz="1150" b="1" dirty="0" err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Attantion</a:t>
            </a:r>
            <a:r>
              <a:rPr lang="en-US" sz="11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Module) pada Setiap Level Encoder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319272" y="3154680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Attention: MLP(AvgPool + MaxPool) → sigmoid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Attention: Conv7×7([AvgPool; MaxPool]) → sigmoid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Diterapkan pada layer1–layer4 sebelum masuk PPD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Menekan noise latar belakang pada skip connection di encoder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89320" y="2542032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17336" y="2651760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17336" y="2651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47688" y="2633472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Edge-aware Boundary Loss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153912" y="3115494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Laplacian 3×3 untuk ekstraksi tepi ground-truth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dengan bobot spasial: (1 + 0.5 × edge_mask)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supervision: L_total = 1.0×L_global + ... + 0.4×L_edge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aktif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 yang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supervise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tambahan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pixel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Kontribusi 1: FFT Enhancement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komponen frekuensi tinggi pada feature map terdalam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3749040"/>
          </a:xfrm>
          <a:prstGeom prst="rect">
            <a:avLst/>
          </a:prstGeom>
          <a:solidFill>
            <a:srgbClr val="F3EE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Konsep &amp; Motivasi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Konvolusi standar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local,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bisa menangkap pola tekstur periodik mukosa polip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FFC-ResNet (Chi et al., 2020) membuktikan FFT meningkatkan segmentasi semantik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Diterapkan pada layer4 (2048 channel, resolusi /32) — fitur paling abstrak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efisien: hanya satu learnable weight tensor per channel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FFT Enhancement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840480"/>
            <a:ext cx="65836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840480"/>
            <a:ext cx="6583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→ float32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69848" y="4059936"/>
            <a:ext cx="5486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" y="3840480"/>
            <a:ext cx="658368" cy="43891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840480"/>
            <a:ext cx="6583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rfft2(x)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783080" y="4059936"/>
            <a:ext cx="5486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7944" y="3840480"/>
            <a:ext cx="65836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37944" y="3840480"/>
            <a:ext cx="6583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|X_fft|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496312" y="4059936"/>
            <a:ext cx="5486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1176" y="3840480"/>
            <a:ext cx="658368" cy="43891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3840480"/>
            <a:ext cx="6583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A_w = A × |w|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9544" y="4059936"/>
            <a:ext cx="5486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4408" y="3840480"/>
            <a:ext cx="65836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840480"/>
            <a:ext cx="6583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irfft2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922776" y="4059936"/>
            <a:ext cx="5486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3840480"/>
            <a:ext cx="658368" cy="43891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840480"/>
            <a:ext cx="65836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ReLU(BN(x + x_back))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 Teknis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1600200"/>
            <a:ext cx="3794760" cy="347472"/>
          </a:xfrm>
          <a:prstGeom prst="rect">
            <a:avLst/>
          </a:prstGeom>
          <a:solidFill>
            <a:srgbClr val="F8F4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60934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160934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∈ ℝ^(B×C×H×W)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1984248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9933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199339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X_fft = rfft2(x)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2368296"/>
            <a:ext cx="3794760" cy="347472"/>
          </a:xfrm>
          <a:prstGeom prst="rect">
            <a:avLst/>
          </a:prstGeom>
          <a:solidFill>
            <a:srgbClr val="F8F4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3774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23774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|X_fft|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2752344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7614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276148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A_w = A × |freq_weight|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3136392"/>
            <a:ext cx="3794760" cy="347472"/>
          </a:xfrm>
          <a:prstGeom prst="rect">
            <a:avLst/>
          </a:prstGeom>
          <a:solidFill>
            <a:srgbClr val="F8F4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14553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314553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= angle(X_fft)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92040" y="3520440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5295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52958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x_back = irfft2(A_w · e^(jφ))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92040" y="3904488"/>
            <a:ext cx="3794760" cy="347472"/>
          </a:xfrm>
          <a:prstGeom prst="rect">
            <a:avLst/>
          </a:prstGeom>
          <a:solidFill>
            <a:srgbClr val="F8F4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9136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35040" y="391363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x_out = ReLU(BN(x + x_back))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Keunggulan: Tidak memerlukan data anotasi tambahan. Overhead komputasi minimal. Efektif menangkap dependensi spasial jarak jauh.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Kontribusi 2: CBAM pada Setiap Level Encoder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Block Attention Module — menekan noise skip connection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3749040"/>
          </a:xfrm>
          <a:prstGeom prst="rect">
            <a:avLst/>
          </a:prstGeom>
          <a:solidFill>
            <a:srgbClr val="FFFBEB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Attention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M_c(F) = σ( MLP(AvgPool(F)) + MLP(MaxPool(F)) 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 + Max Pool → shared 2-layer MLP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attention map M_c ∈ [0,1]^(C×1×1)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 = M_c(F) ⊗ F  (channel-wise multiplication)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CHANNEL mana yang paling diskriminatif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Spatial Attention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M_s(F') = σ( Conv_7×7([AvgPool_c(F'); MaxPool_c(F')]) 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41879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F'' = M_s(F') ⊗ F'   (output CBAM)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Penempatan Strategis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40480" cy="530352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581912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70448" y="15819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256ch  ·  stride /4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60920" y="158191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tekstur halus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75320" y="1664208"/>
            <a:ext cx="502920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66420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203704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70448" y="220370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512ch  ·  stride /8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220370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skala menengah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75320" y="2286000"/>
            <a:ext cx="502920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28600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846320" y="2816352"/>
            <a:ext cx="3840480" cy="530352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825496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282549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1024ch  ·  stride /16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282549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 level tinggi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75320" y="2907792"/>
            <a:ext cx="502920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90779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46320" y="343814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44728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70448" y="34472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2048ch  ·  stride /32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344728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abstrak global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75320" y="3529584"/>
            <a:ext cx="502920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3529584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411480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utama: peningkatan generalisasi model dan kemampuan membedakan polip dari latar belakang yang mirip.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Kontribusi 3: Edge-aware Boundary Loss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 langsung pada piksel batas polip via Laplacian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3794760"/>
          </a:xfrm>
          <a:prstGeom prst="rect">
            <a:avLst/>
          </a:prstGeom>
          <a:solidFill>
            <a:srgbClr val="FFF1F1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Motivasi &amp; Desain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86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batas = minoritas kecil → gradient sangat kecil dalam loss berbasis area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kabur adalah mode kegagalan utama segmentasi polip otomatis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bobot lebih tinggi secara spasial pada pixel batas selama training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Laplacian 3×3 mengekstrak tepi ground-truth secara on-the-fly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memerlukan anotasi batas manual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tambahan</a:t>
            </a: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efisien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3639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Kernel Laplacian: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4754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9776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475488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776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08760" y="3977640"/>
            <a:ext cx="4754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9776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325112"/>
            <a:ext cx="475488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2511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325112"/>
            <a:ext cx="47548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2511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08760" y="4325112"/>
            <a:ext cx="475488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432511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672584"/>
            <a:ext cx="4754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7258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672584"/>
            <a:ext cx="475488" cy="329184"/>
          </a:xfrm>
          <a:prstGeom prst="rect">
            <a:avLst/>
          </a:prstGeom>
          <a:solidFill>
            <a:srgbClr val="FFE4E4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7258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508760" y="4672584"/>
            <a:ext cx="475488" cy="329184"/>
          </a:xfrm>
          <a:prstGeom prst="rect">
            <a:avLst/>
          </a:prstGeom>
          <a:solidFill>
            <a:srgbClr val="F9F9F9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467258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03120" y="40965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G_edge = |conv2d(G, L)|  &gt;  threshold 0.1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051560"/>
            <a:ext cx="40690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Fungsi Loss &amp; Struktur Deep Supervision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572768"/>
            <a:ext cx="3840480" cy="438912"/>
          </a:xfrm>
          <a:prstGeom prst="rect">
            <a:avLst/>
          </a:prstGeom>
          <a:solidFill>
            <a:srgbClr val="FFF1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58191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L_edge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97880" y="158191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BCE( P, G ) · (1 + 0.5 × edge_mask)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075688"/>
            <a:ext cx="38404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08483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L_global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897880" y="208483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 × (wBCE + IoU)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57860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58775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L_lat4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897880" y="258775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 × (wBCE + IoU)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081528"/>
            <a:ext cx="3840480" cy="438912"/>
          </a:xfrm>
          <a:prstGeom prst="rect">
            <a:avLst/>
          </a:prstGeom>
          <a:solidFill>
            <a:srgbClr val="F0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0906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L_lat3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897880" y="309067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 × (wBCE + IoU)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58444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59359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L_lat2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897880" y="359359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× (wBCE + IoU)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41330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L_total  =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89320" y="41330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1.0·L_global + 0.8·L_lat4 + 0.6·L_lat3 + 0.5·L_lat2 + 0.4·L_edge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92040" y="461119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λ_edge = 0.4 ditetapkan via cross-validation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Eksperimen: Dataset &amp; Implementasi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Pengaturan percobaan yang digunakan untuk mengevaluasi EPraNet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210312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yang Digunakan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93192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910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Kvasir-SEG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 tingkat piksel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1700784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1.000  Train: 900  Val: 100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04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Archive-PNG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PNG, polip beragam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2414016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612  Train: 551  Val: 61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training samples: 1.451 citra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493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Metrik Evaluasi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3886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Dice coefficient  ·  mean IoU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F-measure (Fᴡ_β)  ·  Structure Measure (S_α)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Enhanced-alignment Measure (Eᴹax_φ)  ·  MAE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78992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 Implementasi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572768"/>
            <a:ext cx="3886200" cy="39319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581912"/>
            <a:ext cx="1325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581912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NVIDIA CUDA (AMP)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011680"/>
            <a:ext cx="38862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020824"/>
            <a:ext cx="1325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020824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(ImageNet pretrained)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450592"/>
            <a:ext cx="3886200" cy="39319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459736"/>
            <a:ext cx="1325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459736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× 352 piksel (seragam)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889504"/>
            <a:ext cx="38862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2898648"/>
            <a:ext cx="1325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Augmentasi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898648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H/V flip, rotasi ±30°, color jitter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328416"/>
            <a:ext cx="3886200" cy="39319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337560"/>
            <a:ext cx="1325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337560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(lr=1e-4, wd=1e-4)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767328"/>
            <a:ext cx="38862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776472"/>
            <a:ext cx="1325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776472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4206240"/>
            <a:ext cx="3886200" cy="39319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215384"/>
            <a:ext cx="1325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/ Batch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215384"/>
            <a:ext cx="2331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  /  batch size 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Kuantitatif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58955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EPraNet dengan Metode State-of-the-Art pada Kvasir-SEG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19456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024128"/>
            <a:ext cx="100584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024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024128"/>
            <a:ext cx="100584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024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mIoU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024128"/>
            <a:ext cx="96012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2412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Fw_β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024128"/>
            <a:ext cx="96012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02412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S_α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024128"/>
            <a:ext cx="100584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024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Emax_φ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1024128"/>
            <a:ext cx="914400" cy="411480"/>
          </a:xfrm>
          <a:prstGeom prst="rect">
            <a:avLst/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435608"/>
            <a:ext cx="219456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143560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[3]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1435608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43560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20440" y="1435608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7016" y="143560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26280" y="1435608"/>
            <a:ext cx="96012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14356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0" y="1435608"/>
            <a:ext cx="96012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14356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0.858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1435608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143560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52360" y="1435608"/>
            <a:ext cx="91440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8936" y="143560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0.055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" y="1828800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" y="182880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U-Net++ [4]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14600" y="182880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51176" y="18288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520440" y="182880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57016" y="18288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0.743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26280" y="182880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62856" y="182880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0" y="182880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22976" y="182880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0.862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46520" y="182880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83096" y="1828800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0.910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452360" y="182880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88936" y="182880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0.048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0040" y="2221992"/>
            <a:ext cx="219456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" y="2221992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ResUNet++ [5]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14600" y="2221992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51176" y="22219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0.813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520440" y="2221992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57016" y="22219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0.793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26280" y="2221992"/>
            <a:ext cx="96012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2856" y="2221992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0" y="2221992"/>
            <a:ext cx="96012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22976" y="2221992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446520" y="2221992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3096" y="2221992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452360" y="2221992"/>
            <a:ext cx="91440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88936" y="2221992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20040" y="2615184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" y="2615184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SFA [12]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514600" y="261518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51176" y="26151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0.723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520440" y="261518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57016" y="26151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0.611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526280" y="261518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62856" y="261518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0.670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486400" y="261518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22976" y="261518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0.782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446520" y="261518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83096" y="2615184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0.849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452360" y="261518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88936" y="2615184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0.075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320040" y="3008376"/>
            <a:ext cx="219456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6616" y="3008376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PraNet [6]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514600" y="3008376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51176" y="30083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0.898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3520440" y="3008376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57016" y="30083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0.840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4526280" y="3008376"/>
            <a:ext cx="96012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62856" y="3008376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0.885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5486400" y="3008376"/>
            <a:ext cx="96012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22976" y="3008376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0.915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6446520" y="3008376"/>
            <a:ext cx="10058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83096" y="3008376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0.948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7452360" y="3008376"/>
            <a:ext cx="91440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488936" y="3008376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0.030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320040" y="3401568"/>
            <a:ext cx="219456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6616" y="340156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EPraNet (Ours)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514600" y="3401568"/>
            <a:ext cx="100584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51176" y="340156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0.9305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3520440" y="3401568"/>
            <a:ext cx="100584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557016" y="340156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0.874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4526280" y="3401568"/>
            <a:ext cx="96012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62856" y="340156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5486400" y="3401568"/>
            <a:ext cx="96012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522976" y="340156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0.931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6446520" y="3401568"/>
            <a:ext cx="100584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83096" y="3401568"/>
            <a:ext cx="93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0.962</a:t>
            </a:r>
            <a:endParaRPr lang="en-US" sz="1150" dirty="0"/>
          </a:p>
        </p:txBody>
      </p:sp>
      <p:sp>
        <p:nvSpPr>
          <p:cNvPr id="101" name="Shape 99"/>
          <p:cNvSpPr/>
          <p:nvPr/>
        </p:nvSpPr>
        <p:spPr>
          <a:xfrm>
            <a:off x="7452360" y="3401568"/>
            <a:ext cx="91440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88936" y="340156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0.022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411480" y="446227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6A34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24547" y="4462272"/>
            <a:ext cx="130628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+3.3 pp</a:t>
            </a:r>
            <a:endParaRPr lang="en-US" sz="2200" dirty="0"/>
          </a:p>
        </p:txBody>
      </p:sp>
      <p:sp>
        <p:nvSpPr>
          <p:cNvPr id="105" name="Text 103"/>
          <p:cNvSpPr/>
          <p:nvPr/>
        </p:nvSpPr>
        <p:spPr>
          <a:xfrm>
            <a:off x="1645920" y="44622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PraNet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mDice Kvasir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355848" y="446227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0891B2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447288" y="44622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-26.7%</a:t>
            </a:r>
            <a:endParaRPr lang="en-US" sz="2200" dirty="0"/>
          </a:p>
        </p:txBody>
      </p:sp>
      <p:sp>
        <p:nvSpPr>
          <p:cNvPr id="108" name="Text 106"/>
          <p:cNvSpPr/>
          <p:nvPr/>
        </p:nvSpPr>
        <p:spPr>
          <a:xfrm>
            <a:off x="4590288" y="44622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MAE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pengurangan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300216" y="4462272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91656" y="44622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0.962</a:t>
            </a:r>
            <a:endParaRPr lang="en-US" sz="2200" dirty="0"/>
          </a:p>
        </p:txBody>
      </p:sp>
      <p:sp>
        <p:nvSpPr>
          <p:cNvPr id="111" name="Text 109"/>
          <p:cNvSpPr/>
          <p:nvPr/>
        </p:nvSpPr>
        <p:spPr>
          <a:xfrm>
            <a:off x="7534656" y="44622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Emax_φ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terbaik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Perbandingan pada Dua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0171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performa EPraNet lintas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315968" cy="384048"/>
          </a:xfrm>
          <a:prstGeom prst="roundRect">
            <a:avLst>
              <a:gd name="adj" fmla="val 9524"/>
            </a:avLst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Kvasir-SEG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150876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44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83080" y="1444752"/>
            <a:ext cx="73152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444752"/>
            <a:ext cx="73152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444752"/>
            <a:ext cx="73152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77640" y="1444752"/>
            <a:ext cx="64008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444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150876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1828800"/>
            <a:ext cx="1453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83080" y="1828800"/>
            <a:ext cx="73152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1828800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14600" y="1828800"/>
            <a:ext cx="73152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1828800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0.746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1828800"/>
            <a:ext cx="73152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828800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0.858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77640" y="1828800"/>
            <a:ext cx="64008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1828800"/>
            <a:ext cx="6126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0.055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2212848"/>
            <a:ext cx="15087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212848"/>
            <a:ext cx="1453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83080" y="22128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10512" y="2212848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14600" y="22128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212848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46120" y="22128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212848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0.915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77640" y="2212848"/>
            <a:ext cx="6400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5072" y="2212848"/>
            <a:ext cx="6126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2596896"/>
            <a:ext cx="150876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2596896"/>
            <a:ext cx="1453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EPraNet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83080" y="2596896"/>
            <a:ext cx="73152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0512" y="2596896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0.9305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14600" y="2596896"/>
            <a:ext cx="73152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2596896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0.874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46120" y="2596896"/>
            <a:ext cx="73152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2596896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0.931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977640" y="2596896"/>
            <a:ext cx="64008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2596896"/>
            <a:ext cx="640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0.022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709160" y="1024128"/>
            <a:ext cx="4315968" cy="384048"/>
          </a:xfrm>
          <a:prstGeom prst="roundRect">
            <a:avLst>
              <a:gd name="adj" fmla="val 9524"/>
            </a:avLst>
          </a:prstGeom>
          <a:solidFill>
            <a:srgbClr val="1A4A8A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1024128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Archive-PNG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4709160" y="1444752"/>
            <a:ext cx="150876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1444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17920" y="1444752"/>
            <a:ext cx="73152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mDice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949440" y="1444752"/>
            <a:ext cx="73152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680960" y="1444752"/>
            <a:ext cx="73152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S_α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412480" y="1444752"/>
            <a:ext cx="640080" cy="34747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1444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09160" y="1828800"/>
            <a:ext cx="150876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1828800"/>
            <a:ext cx="1453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17920" y="1828800"/>
            <a:ext cx="73152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45352" y="1828800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0.742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949440" y="1828800"/>
            <a:ext cx="73152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76872" y="1828800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0.683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7680960" y="1828800"/>
            <a:ext cx="73152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08392" y="1828800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0.831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8412480" y="1828800"/>
            <a:ext cx="640080" cy="356616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1828800"/>
            <a:ext cx="6126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0.048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709160" y="2212848"/>
            <a:ext cx="15087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212848"/>
            <a:ext cx="1453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PraNet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17920" y="22128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45352" y="2212848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0.871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949440" y="22128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76872" y="2212848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0.812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680960" y="2212848"/>
            <a:ext cx="731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08392" y="2212848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0.907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8412480" y="2212848"/>
            <a:ext cx="64008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39912" y="2212848"/>
            <a:ext cx="6126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0.019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709160" y="2596896"/>
            <a:ext cx="150876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36592" y="2596896"/>
            <a:ext cx="145389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EPraNet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217920" y="2596896"/>
            <a:ext cx="73152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45352" y="2596896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0.887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6949440" y="2596896"/>
            <a:ext cx="73152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76872" y="2596896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0.829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7680960" y="2596896"/>
            <a:ext cx="73152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08392" y="2596896"/>
            <a:ext cx="676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0.918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8412480" y="2596896"/>
            <a:ext cx="640080" cy="356616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39912" y="2596896"/>
            <a:ext cx="6126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0.016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71846" y="47548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Visualisasi mDice — Perbandingan Antar Dataset</a:t>
            </a:r>
            <a:endParaRPr lang="en-US" sz="1200" dirty="0"/>
          </a:p>
        </p:txBody>
      </p:sp>
      <p:graphicFrame>
        <p:nvGraphicFramePr>
          <p:cNvPr id="90" name="Chart 0"/>
          <p:cNvGraphicFramePr/>
          <p:nvPr/>
        </p:nvGraphicFramePr>
        <p:xfrm>
          <a:off x="548640" y="2971800"/>
          <a:ext cx="80467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 Ablasi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3936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inkremental setiap komponen EPraNet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200400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024128"/>
            <a:ext cx="1234440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0241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Kvasir mDice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1234440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241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Kvasir mIoU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1024128"/>
            <a:ext cx="1234440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0241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mDice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1024128"/>
            <a:ext cx="1234440" cy="3840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0241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mIoU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435608"/>
            <a:ext cx="320040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1435608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saja (ResNet-50)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20440" y="1435608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143560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0.7410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435608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43560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1435608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25896" y="143560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23760" y="1435608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0336" y="143560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1819656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181965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PPD (baseline PraNet)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20440" y="1819656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7016" y="1819656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0.8830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1819656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1819656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0.822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89320" y="1819656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1819656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0.859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23760" y="1819656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1819656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0.797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2203704"/>
            <a:ext cx="320040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2203704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FFT Enhancement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20440" y="2203704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57016" y="2203704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0.8960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2203704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2203704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0.836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89320" y="2203704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2203704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0.868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223760" y="2203704"/>
            <a:ext cx="1234440" cy="365760"/>
          </a:xfrm>
          <a:prstGeom prst="rect">
            <a:avLst/>
          </a:prstGeom>
          <a:solidFill>
            <a:srgbClr val="F0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2203704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0.809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20040" y="2587752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2587752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FFT + CBAM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520440" y="2587752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57016" y="2587752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0.9160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54880" y="2587752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2587752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0.858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989320" y="2587752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25896" y="2587752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0.879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223760" y="2587752"/>
            <a:ext cx="1234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0336" y="2587752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0.821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20040" y="2971800"/>
            <a:ext cx="320040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2971800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FFT + CBAM + Edge-aware Loss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520440" y="2971800"/>
            <a:ext cx="123444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57016" y="2971800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0.9305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54880" y="2971800"/>
            <a:ext cx="123444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2971800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0.874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989320" y="2971800"/>
            <a:ext cx="123444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25896" y="2971800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0.887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223760" y="2971800"/>
            <a:ext cx="123444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60336" y="2971800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0.829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65760" y="34015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Perolehan mDice pada Kvasir-SEG (inkremental):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320040" y="3730752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0040" y="3730752"/>
            <a:ext cx="2057400" cy="54864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37947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4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+14.2 pp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320040" y="431596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 (PraNet)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514600" y="3730752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514600" y="3730752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14600" y="37947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+1.3 pp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2514600" y="431596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Enhancement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709160" y="3730752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709160" y="3730752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09160" y="37947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+2.0 pp</a:t>
            </a:r>
            <a:endParaRPr lang="en-US" sz="2600" dirty="0"/>
          </a:p>
        </p:txBody>
      </p:sp>
      <p:sp>
        <p:nvSpPr>
          <p:cNvPr id="77" name="Text 75"/>
          <p:cNvSpPr/>
          <p:nvPr/>
        </p:nvSpPr>
        <p:spPr>
          <a:xfrm>
            <a:off x="4709160" y="431596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903720" y="3730752"/>
            <a:ext cx="2057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903720" y="3730752"/>
            <a:ext cx="20574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03720" y="37947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+1.45 pp</a:t>
            </a:r>
            <a:endParaRPr lang="en-US" sz="2600" dirty="0"/>
          </a:p>
        </p:txBody>
      </p:sp>
      <p:sp>
        <p:nvSpPr>
          <p:cNvPr id="81" name="Text 79"/>
          <p:cNvSpPr/>
          <p:nvPr/>
        </p:nvSpPr>
        <p:spPr>
          <a:xfrm>
            <a:off x="6903720" y="4315968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Edge-aware Loss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Perbandingan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Hasil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EPraNet mempertahankan kemampuan inferensi real-time. FFT Enhancement &amp; CBAM menambah sedikit overhead, namun throughput tetap memadai untuk aplikasi klinis. Edge head hanya aktif saat training.</a:t>
            </a:r>
            <a:endParaRPr lang="en-US" sz="11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1FAFF60-F1D3-8CAB-70A1-4746DE8064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93" t="9736" r="5358" b="13779"/>
          <a:stretch>
            <a:fillRect/>
          </a:stretch>
        </p:blipFill>
        <p:spPr>
          <a:xfrm>
            <a:off x="502920" y="1118495"/>
            <a:ext cx="4049186" cy="16655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5646782-CD98-3157-4066-4F913869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455" y="1118495"/>
            <a:ext cx="3326605" cy="2220686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B02E333-3C83-C34E-3807-638743F62B1E}"/>
              </a:ext>
            </a:extLst>
          </p:cNvPr>
          <p:cNvSpPr/>
          <p:nvPr/>
        </p:nvSpPr>
        <p:spPr>
          <a:xfrm>
            <a:off x="502920" y="3119336"/>
            <a:ext cx="1433209" cy="458581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6DC9FAC-7B94-3D2D-DADD-F76408D5AC82}"/>
              </a:ext>
            </a:extLst>
          </p:cNvPr>
          <p:cNvSpPr/>
          <p:nvPr/>
        </p:nvSpPr>
        <p:spPr>
          <a:xfrm>
            <a:off x="3099412" y="3149658"/>
            <a:ext cx="1433209" cy="458581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Curved Right 29">
            <a:extLst>
              <a:ext uri="{FF2B5EF4-FFF2-40B4-BE49-F238E27FC236}">
                <a16:creationId xmlns:a16="http://schemas.microsoft.com/office/drawing/2014/main" id="{3116A36D-66A4-F7B0-5B5F-8A19F5EFA75C}"/>
              </a:ext>
            </a:extLst>
          </p:cNvPr>
          <p:cNvSpPr/>
          <p:nvPr/>
        </p:nvSpPr>
        <p:spPr>
          <a:xfrm rot="11015495" flipH="1">
            <a:off x="109226" y="2456527"/>
            <a:ext cx="324865" cy="883334"/>
          </a:xfrm>
          <a:prstGeom prst="curvedRightArrow">
            <a:avLst>
              <a:gd name="adj1" fmla="val 5333"/>
              <a:gd name="adj2" fmla="val 27205"/>
              <a:gd name="adj3" fmla="val 13629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2E60B62F-8337-E486-82DE-FEFBA44C1FFD}"/>
              </a:ext>
            </a:extLst>
          </p:cNvPr>
          <p:cNvSpPr/>
          <p:nvPr/>
        </p:nvSpPr>
        <p:spPr>
          <a:xfrm>
            <a:off x="4611381" y="3412065"/>
            <a:ext cx="1433209" cy="173265"/>
          </a:xfrm>
          <a:prstGeom prst="bentUpArrow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171CED-F82F-4DC2-4216-FF5CBBD8D578}"/>
              </a:ext>
            </a:extLst>
          </p:cNvPr>
          <p:cNvSpPr txBox="1"/>
          <p:nvPr/>
        </p:nvSpPr>
        <p:spPr>
          <a:xfrm>
            <a:off x="665222" y="3164503"/>
            <a:ext cx="12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Sebelum</a:t>
            </a:r>
            <a:r>
              <a:rPr lang="en-US" dirty="0">
                <a:solidFill>
                  <a:schemeClr val="accent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6D0D4A-B66D-9A38-6DA4-DA4A910DCE3D}"/>
              </a:ext>
            </a:extLst>
          </p:cNvPr>
          <p:cNvSpPr txBox="1"/>
          <p:nvPr/>
        </p:nvSpPr>
        <p:spPr>
          <a:xfrm>
            <a:off x="3267897" y="3154515"/>
            <a:ext cx="12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Setelah</a:t>
            </a:r>
            <a:r>
              <a:rPr lang="en-US" dirty="0">
                <a:solidFill>
                  <a:schemeClr val="accent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1005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EPraNet meningkatkan PraNet dengan tiga komponen inovatif: FFT Enhancement, CBAM, dan Edge-aware Boundary Loss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92808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1874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Mencapai mean Dice 0.9305 pada Kvasir-SEG,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melampaui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PraNet asli sebesar 3.3 pp dan semua baseline yang dibandingkan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761488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ablasi mengkonfirmasi kontribusi bermakna dari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 komponen yang redundan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630168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EPraNet mempertahankan kemampuan inferensi real-time, menjadikannya kandidat praktis untuk sistem pendukung kolonoskopi klinis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572000"/>
            <a:ext cx="8321040" cy="438912"/>
          </a:xfrm>
          <a:prstGeom prst="roundRect">
            <a:avLst>
              <a:gd name="adj" fmla="val 12500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720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"EPraNet merupakan kandidat praktis untuk deployment dalam sistem pendukung kolonoskopi tingkat klinis."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Referensi Utama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206240" cy="65836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Haggar &amp; Boushey (2009). Colorectal cancer epidemiology. Clinics in Colon and Rectal Surgery.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77393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73936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Citarda et al. (2001). Efficacy of colonoscopic polypectomy. Gut.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523744"/>
            <a:ext cx="4206240" cy="65836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23744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Ronneberger et al. (2015). U-Net: Convolutional networks for biomedical segmentation. MICCAI.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327355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7355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Zhou et al. (2019). UNet++: Nested U-Net for medical image segmentation. IEEE TMI.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4023360"/>
            <a:ext cx="4206240" cy="65836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023360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Jha et al. (2019). ResUNet++: Advanced architecture for medical segmentation. IEEE ISM.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2412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24128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Fan et al. (2020). PraNet: Parallel reverse attention network for polyp segmentation. MICCAI.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773936"/>
            <a:ext cx="4206240" cy="65836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73936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Fang et al. (2019). SFA: Selective feature aggregation. MICCAI.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52374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23744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Chi et al. (2020). Fast Fourier convolution. NeurIPS.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273552"/>
            <a:ext cx="4206240" cy="65836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7355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Woo et al. (2018). CBAM: Convolutional block attention module. ECCV.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023360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Jha et al. (2020). Kvasir-SEG: A segmented polyp dataset. MMM.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1865</Words>
  <Application>Microsoft Office PowerPoint</Application>
  <PresentationFormat>On-screen Show (16:9)</PresentationFormat>
  <Paragraphs>399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SimSun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EPraNet Presentation</dc:title>
  <dc:subject>PptxGenJS Presentation</dc:subject>
  <dc:creator>Andrie Fadhlullah Wahby</dc:creator>
  <cp:lastModifiedBy>Arsland Lothbrok</cp:lastModifiedBy>
  <cp:revision>7</cp:revision>
  <dcterms:created xsi:type="dcterms:W3CDTF">2026-06-06T00:22:11Z</dcterms:created>
  <dcterms:modified xsi:type="dcterms:W3CDTF">2026-06-06T02:13:45Z</dcterms:modified>
</cp:coreProperties>
</file>